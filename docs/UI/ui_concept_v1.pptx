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08"/>
          </a:solidFill>
          <a:ln w="12700">
            <a:solidFill>
              <a:srgbClr val="0B0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10972800" cy="0"/>
          </a:xfrm>
          <a:prstGeom prst="line">
            <a:avLst/>
          </a:prstGeom>
          <a:noFill/>
          <a:ln w="12700">
            <a:solidFill>
              <a:srgbClr val="2C25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6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拾艺局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B074"/>
                </a:solidFill>
              </a:rPr>
              <a:t>新一代艺术品流通平台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9019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6EFE6"/>
                </a:solidFill>
              </a:rPr>
              <a:t>UI 概念首版 · 微信小程序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6EFE6"/>
                </a:solidFill>
              </a:rPr>
              <a:t>术语统一：艺术家 / 艺荐官 / 藏家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</a:rPr>
              <a:t>定位方向：高端、克制、带东方气质；用深色底 + 金色强调，建立“画廊感”和“资产感”。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A1612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398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B074"/>
                </a:solidFill>
              </a:rPr>
              <a:t>动态定价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55648" y="370332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A1612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55648" y="37398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B074"/>
                </a:solidFill>
              </a:rPr>
              <a:t>转售流通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71216" y="37033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1A1612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71216" y="37398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B074"/>
                </a:solidFill>
              </a:rPr>
              <a:t>盲盒/拼团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32504" y="370332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A1612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32504" y="37398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B074"/>
                </a:solidFill>
              </a:rPr>
              <a:t>独家发行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4251960"/>
            <a:ext cx="4297680" cy="0"/>
          </a:xfrm>
          <a:prstGeom prst="line">
            <a:avLst/>
          </a:prstGeom>
          <a:noFill/>
          <a:ln w="12700">
            <a:solidFill>
              <a:srgbClr val="B78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074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本轮先出关键界面方向，不进入交互细节；下一轮可继续拆首页、作品详情、转售、分销中心。</a:t>
            </a:r>
            <a:endParaRPr lang="en-US" sz="1050" dirty="0"/>
          </a:p>
        </p:txBody>
      </p:sp>
      <p:pic>
        <p:nvPicPr>
          <p:cNvPr id="18" name="Image 0" descr="/mnt/data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56717"/>
            <a:ext cx="1783080" cy="417316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0" y="6227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首页</a:t>
            </a:r>
            <a:endParaRPr lang="en-US" sz="1050" dirty="0"/>
          </a:p>
        </p:txBody>
      </p:sp>
      <p:pic>
        <p:nvPicPr>
          <p:cNvPr id="20" name="Image 1" descr="/mnt/data/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099820"/>
            <a:ext cx="1901952" cy="464921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60920" y="624535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作品详情</a:t>
            </a:r>
            <a:endParaRPr lang="en-US" sz="1050" dirty="0"/>
          </a:p>
        </p:txBody>
      </p:sp>
      <p:pic>
        <p:nvPicPr>
          <p:cNvPr id="22" name="Image 2" descr="/mnt/data/art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1363980"/>
            <a:ext cx="1783080" cy="435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400032" y="62270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艺术家主页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047488" y="749808"/>
            <a:ext cx="0" cy="5394960"/>
          </a:xfrm>
          <a:prstGeom prst="line">
            <a:avLst/>
          </a:prstGeom>
          <a:noFill/>
          <a:ln w="12700">
            <a:solidFill>
              <a:srgbClr val="2C251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08"/>
          </a:solidFill>
          <a:ln w="12700">
            <a:solidFill>
              <a:srgbClr val="0B0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10972800" cy="0"/>
          </a:xfrm>
          <a:prstGeom prst="line">
            <a:avLst/>
          </a:prstGeom>
          <a:noFill/>
          <a:ln w="12700">
            <a:solidFill>
              <a:srgbClr val="2C25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B0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核心浏览路径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首页 → 作品详情 → 艺术家主页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先把平台最重要的浏览闭环打通：看见作品、理解价值、再回到艺术家建立信任。</a:t>
            </a:r>
            <a:endParaRPr lang="en-US" sz="1080" dirty="0"/>
          </a:p>
        </p:txBody>
      </p:sp>
      <p:pic>
        <p:nvPicPr>
          <p:cNvPr id="7" name="Image 0" descr="/mnt/data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4053"/>
            <a:ext cx="1874520" cy="43871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622706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首页</a:t>
            </a:r>
            <a:endParaRPr lang="en-US" sz="1050" dirty="0"/>
          </a:p>
        </p:txBody>
      </p:sp>
      <p:pic>
        <p:nvPicPr>
          <p:cNvPr id="9" name="Image 1" descr="/mnt/data/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725" y="1783080"/>
            <a:ext cx="1795549" cy="4389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63240" y="622706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作品详情</a:t>
            </a:r>
            <a:endParaRPr lang="en-US" sz="1050" dirty="0"/>
          </a:p>
        </p:txBody>
      </p:sp>
      <p:pic>
        <p:nvPicPr>
          <p:cNvPr id="11" name="Image 2" descr="/mnt/data/art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005" y="1783080"/>
            <a:ext cx="1795549" cy="43891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03520" y="622706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艺术家主页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7909560" y="178308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055864" y="1892808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EFE6"/>
                </a:solidFill>
              </a:rPr>
              <a:t>首页重点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055864" y="2130552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顶部搜索 + 分类捷径 + 精选藏品；主卡面强调画作本身，减少电商噪音。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909560" y="278892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55864" y="2898648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EFE6"/>
                </a:solidFill>
              </a:rPr>
              <a:t>详情页重点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055864" y="3136392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保留动态价格、关注量、收藏人数；主按钮统一为“立即入藏”。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909560" y="3794760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55864" y="3904488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EFE6"/>
                </a:solidFill>
              </a:rPr>
              <a:t>艺术家主页重点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055864" y="4142232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前台展示等级、粉丝、作品数、成交数；强化“可被信任的艺术家”心智。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909560" y="5047488"/>
            <a:ext cx="3429000" cy="987552"/>
          </a:xfrm>
          <a:prstGeom prst="roundRect">
            <a:avLst>
              <a:gd name="adj" fmla="val 7407"/>
            </a:avLst>
          </a:prstGeom>
          <a:solidFill>
            <a:srgbClr val="0F0E0C"/>
          </a:solidFill>
          <a:ln w="12700">
            <a:solidFill>
              <a:srgbClr val="B78A4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74152" y="51937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文案建议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6EFE6"/>
                </a:solidFill>
              </a:rPr>
              <a:t>把“购买”统一改成“入藏”，把“售罄”统一改成“已被收藏”。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08"/>
          </a:solidFill>
          <a:ln w="12700">
            <a:solidFill>
              <a:srgbClr val="0B0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10972800" cy="0"/>
          </a:xfrm>
          <a:prstGeom prst="line">
            <a:avLst/>
          </a:prstGeom>
          <a:noFill/>
          <a:ln w="12700">
            <a:solidFill>
              <a:srgbClr val="2C25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B0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流通与增长模块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转售、拼团、盲盒、独家发行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这些页面是拾艺局区别于普通艺术电商的关键，也是“流通平台”心智的来源。</a:t>
            </a:r>
            <a:endParaRPr lang="en-US" sz="1080" dirty="0"/>
          </a:p>
        </p:txBody>
      </p:sp>
      <p:pic>
        <p:nvPicPr>
          <p:cNvPr id="7" name="Image 0" descr="/mnt/data/res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87575"/>
            <a:ext cx="1572768" cy="34600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9070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转售</a:t>
            </a:r>
            <a:endParaRPr lang="en-US" sz="1050" dirty="0"/>
          </a:p>
        </p:txBody>
      </p:sp>
      <p:pic>
        <p:nvPicPr>
          <p:cNvPr id="9" name="Image 1" descr="/mnt/data/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136724"/>
            <a:ext cx="1572768" cy="33617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51760" y="59070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拼团收藏</a:t>
            </a:r>
            <a:endParaRPr lang="en-US" sz="1050" dirty="0"/>
          </a:p>
        </p:txBody>
      </p:sp>
      <p:pic>
        <p:nvPicPr>
          <p:cNvPr id="11" name="Image 2" descr="/mnt/data/blind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048256"/>
            <a:ext cx="1572768" cy="35387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17720" y="59070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艺术盲盒</a:t>
            </a:r>
            <a:endParaRPr lang="en-US" sz="1050" dirty="0"/>
          </a:p>
        </p:txBody>
      </p:sp>
      <p:pic>
        <p:nvPicPr>
          <p:cNvPr id="13" name="Image 3" descr="/mnt/data/exclusi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000435"/>
            <a:ext cx="1572768" cy="363436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83680" y="5907024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独家发行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8823960" y="164592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970264" y="175564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EFE6"/>
                </a:solidFill>
              </a:rPr>
              <a:t>转售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970264" y="199339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藏家持有后可继续在平台转售；页面里突出“预计到手”和平台/艺术家分成。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823960" y="26974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970264" y="280720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EFE6"/>
                </a:solidFill>
              </a:rPr>
              <a:t>拼团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970264" y="304495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适合中高价作品；联合证书里明确每位藏家的持有比例。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823960" y="374904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970264" y="3858768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EFE6"/>
                </a:solidFill>
              </a:rPr>
              <a:t>盲盒 &amp; 独家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970264" y="409651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盲盒负责转化，新人艺术家冷启动；独家发行负责品牌势能和稀缺感。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13232" y="6291072"/>
            <a:ext cx="10725912" cy="310896"/>
          </a:xfrm>
          <a:prstGeom prst="roundRect">
            <a:avLst>
              <a:gd name="adj" fmla="val 23529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96112" y="6364224"/>
            <a:ext cx="10332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1A7"/>
                </a:solidFill>
              </a:rPr>
              <a:t>这一组页面建议统一使用“黑底 + 金色按钮 + 强对比价格信息”，保证资产属性和高级感。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08"/>
          </a:solidFill>
          <a:ln w="12700">
            <a:solidFill>
              <a:srgbClr val="0B0A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10972800" cy="0"/>
          </a:xfrm>
          <a:prstGeom prst="line">
            <a:avLst/>
          </a:prstGeom>
          <a:noFill/>
          <a:ln w="12700">
            <a:solidFill>
              <a:srgbClr val="2C25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B07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运营与个人中心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EFE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艺荐官中心 / 我的藏品 / 个人中心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1155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B8B1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既要满足分销效率，也要让藏家和普通用户感到这是一个“靠谱且有审美”的平台。</a:t>
            </a:r>
            <a:endParaRPr lang="en-US" sz="1080" dirty="0"/>
          </a:p>
        </p:txBody>
      </p:sp>
      <p:pic>
        <p:nvPicPr>
          <p:cNvPr id="7" name="Image 0" descr="/mnt/data/col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4736"/>
            <a:ext cx="1664208" cy="4068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601675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我的藏品</a:t>
            </a:r>
            <a:endParaRPr lang="en-US" sz="1050" dirty="0"/>
          </a:p>
        </p:txBody>
      </p:sp>
      <p:pic>
        <p:nvPicPr>
          <p:cNvPr id="9" name="Image 1" descr="/mnt/data/ag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927232"/>
            <a:ext cx="1664208" cy="38630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78608" y="601675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艺荐官中心</a:t>
            </a:r>
            <a:endParaRPr lang="en-US" sz="1050" dirty="0"/>
          </a:p>
        </p:txBody>
      </p:sp>
      <p:pic>
        <p:nvPicPr>
          <p:cNvPr id="11" name="Image 2" descr="/mnt/data/m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2116444"/>
            <a:ext cx="1664208" cy="34846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17136" y="601675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个人中心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812280" y="1755648"/>
            <a:ext cx="4617720" cy="4206240"/>
          </a:xfrm>
          <a:prstGeom prst="roundRect">
            <a:avLst>
              <a:gd name="adj" fmla="val 2174"/>
            </a:avLst>
          </a:prstGeom>
          <a:solidFill>
            <a:srgbClr val="14110E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059168" y="19385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EFE6"/>
                </a:solidFill>
              </a:rPr>
              <a:t>视觉规范（首版）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059168" y="2267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B1A7"/>
                </a:solidFill>
              </a:rPr>
              <a:t>色彩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059168" y="252374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0A08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653528" y="252374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110E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47888" y="252374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6B074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842248" y="252374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6EFE6"/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059168" y="30540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B1A7"/>
                </a:solidFill>
              </a:rPr>
              <a:t>主背景 / 卡片 / 金色强调 / 米白正文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7059168" y="34381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B1A7"/>
                </a:solidFill>
              </a:rPr>
              <a:t>按钮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059168" y="3712464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D6B074"/>
          </a:solidFill>
          <a:ln w="12700">
            <a:solidFill>
              <a:srgbClr val="D6B07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059168" y="38221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A08"/>
                </a:solidFill>
              </a:rPr>
              <a:t>立即入藏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979408" y="3712464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A1612"/>
          </a:solidFill>
          <a:ln w="12700">
            <a:solidFill>
              <a:srgbClr val="2C251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979408" y="38221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EFE6"/>
                </a:solidFill>
              </a:rPr>
              <a:t>确认转售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059168" y="43525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B1A7"/>
                </a:solidFill>
              </a:rPr>
              <a:t>术语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7059168" y="46085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6EFE6"/>
                </a:solidFill>
              </a:rPr>
              <a:t>艺术家 / 艺荐官 / 藏家 / 藏品 / 入藏 / 已被收藏</a:t>
            </a:r>
            <a:endParaRPr lang="en-US" sz="1080" dirty="0"/>
          </a:p>
        </p:txBody>
      </p:sp>
      <p:sp>
        <p:nvSpPr>
          <p:cNvPr id="28" name="Text 23"/>
          <p:cNvSpPr/>
          <p:nvPr/>
        </p:nvSpPr>
        <p:spPr>
          <a:xfrm>
            <a:off x="7059168" y="5029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B1A7"/>
                </a:solidFill>
              </a:rPr>
              <a:t>下一步建议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7059168" y="52852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F6EFE6"/>
                </a:solidFill>
              </a:rPr>
              <a:t>• 继续细化首页模块顺序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6EFE6"/>
                </a:solidFill>
              </a:rPr>
              <a:t>• 补齐转售流程弹窗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6EFE6"/>
                </a:solidFill>
              </a:rPr>
              <a:t>• 细化艺术家主页的等级展示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F6EFE6"/>
                </a:solidFill>
              </a:rPr>
              <a:t>• 出一版可点按交互原型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拾艺局 UI 概念稿</dc:title>
  <dc:subject>拾艺局 UI 概念稿</dc:subject>
  <dc:creator>OpenAI</dc:creator>
  <cp:lastModifiedBy>OpenAI</cp:lastModifiedBy>
  <cp:revision>1</cp:revision>
  <dcterms:created xsi:type="dcterms:W3CDTF">2026-04-05T03:45:52Z</dcterms:created>
  <dcterms:modified xsi:type="dcterms:W3CDTF">2026-04-05T03:45:52Z</dcterms:modified>
</cp:coreProperties>
</file>