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12064"/>
            <a:ext cx="11064240" cy="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B074"/>
                </a:solidFill>
              </a:rPr>
              <a:t>拾艺局 · UI 细化稿 V2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887E"/>
                </a:solidFill>
              </a:rPr>
              <a:t>微信小程序 · 可开发级页面结构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拾艺局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074"/>
                </a:solidFill>
              </a:rPr>
              <a:t>UI 细化稿 V2 · 可开发级页面结构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836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EFE6"/>
                </a:solidFill>
              </a:rPr>
              <a:t>术语统一：艺术家 / 艺荐官 / 藏家 / 藏品 / 入藏 / 已被收藏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EFE6"/>
                </a:solidFill>
              </a:rPr>
              <a:t>目标：将概念稿推进到页面结构、模块层级、按钮状态、开发标注可直接使用的程度。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940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B074"/>
                </a:solidFill>
              </a:rPr>
              <a:t>首页成交页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92224" y="28346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28940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B074"/>
                </a:solidFill>
              </a:rPr>
              <a:t>艺术家信任页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44368" y="28346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8940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B074"/>
                </a:solidFill>
              </a:rPr>
              <a:t>转售流通页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96512" y="28346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8940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B074"/>
                </a:solidFill>
              </a:rPr>
              <a:t>资产中心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896112"/>
            <a:ext cx="1572768" cy="4160520"/>
          </a:xfrm>
          <a:prstGeom prst="roundRect">
            <a:avLst>
              <a:gd name="adj" fmla="val 11628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969264"/>
            <a:ext cx="1426464" cy="4014216"/>
          </a:xfrm>
          <a:prstGeom prst="roundRect">
            <a:avLst>
              <a:gd name="adj" fmla="val 10256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6016" y="100584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6" name="Image 0" descr="/mnt/data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4" y="1380452"/>
            <a:ext cx="1371600" cy="32101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511149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首页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02168" y="713232"/>
            <a:ext cx="1700784" cy="4526280"/>
          </a:xfrm>
          <a:prstGeom prst="roundRect">
            <a:avLst>
              <a:gd name="adj" fmla="val 10753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786384"/>
            <a:ext cx="1554480" cy="4379976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59952" y="82296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1" name="Image 1" descr="/mnt/data/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152652"/>
            <a:ext cx="1499616" cy="36657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02168" y="52943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详情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0040112" y="914400"/>
            <a:ext cx="1572768" cy="4160520"/>
          </a:xfrm>
          <a:prstGeom prst="roundRect">
            <a:avLst>
              <a:gd name="adj" fmla="val 11628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113264" y="987552"/>
            <a:ext cx="1426464" cy="4014216"/>
          </a:xfrm>
          <a:prstGeom prst="roundRect">
            <a:avLst>
              <a:gd name="adj" fmla="val 10256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533888" y="102412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6" name="Image 2" descr="/mnt/data/art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96" y="1327404"/>
            <a:ext cx="1371600" cy="33528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040112" y="51297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艺术家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0080" y="388620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6384" y="399592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本轮交付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86384" y="4251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50976" y="4251960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8 张页面细化图：覆盖首页、作品详情、艺术家主页、转售、我的藏品、艺荐官中心。</a:t>
            </a:r>
            <a:endParaRPr lang="en-US" sz="1020" dirty="0"/>
          </a:p>
        </p:txBody>
      </p:sp>
      <p:sp>
        <p:nvSpPr>
          <p:cNvPr id="32" name="Text 27"/>
          <p:cNvSpPr/>
          <p:nvPr/>
        </p:nvSpPr>
        <p:spPr>
          <a:xfrm>
            <a:off x="786384" y="45628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950976" y="4562856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补齐页面模块顺序、功能说明、主次按钮、关键状态，减少设计与开发反复。</a:t>
            </a:r>
            <a:endParaRPr lang="en-US" sz="1020" dirty="0"/>
          </a:p>
        </p:txBody>
      </p:sp>
      <p:sp>
        <p:nvSpPr>
          <p:cNvPr id="34" name="Text 29"/>
          <p:cNvSpPr/>
          <p:nvPr/>
        </p:nvSpPr>
        <p:spPr>
          <a:xfrm>
            <a:off x="786384" y="48737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950976" y="4873752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所有页面默认适配微信小程序深色高端风格，便于后续继续做交互原型。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 / 信息架构与底部导航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先锁定 5 个一级入口，保证“浏览 → 入藏 → 流通 → 资产管理”路径足够清晰。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385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EFE6"/>
                </a:solidFill>
              </a:rPr>
              <a:t>首页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• Banner / 搜索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932688" y="28163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热门藏品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932688" y="32735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新作首发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93268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正在升值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932688" y="41879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艺术盲盒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932688" y="4645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推荐艺术家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880360" y="178308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9385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EFE6"/>
                </a:solidFill>
              </a:rPr>
              <a:t>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8152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• 分类筛选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081528" y="28163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签约艺术家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081528" y="32735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独家发行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08152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拼团专区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081528" y="41879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流通市场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9385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EFE6"/>
                </a:solidFill>
              </a:rPr>
              <a:t>发布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• 艺术家发布入口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230368" y="28163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藏家发起转售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5230368" y="32735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盲盒创建（后台）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523036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邀请码跳转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7178040" y="178308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19385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EFE6"/>
                </a:solidFill>
              </a:rPr>
              <a:t>藏品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7920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• 我的藏品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379208" y="28163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证书记录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379208" y="32735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托管状态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737920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转售订单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7379208" y="41879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拼团份额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9326880" y="178308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1472" y="19385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EFE6"/>
                </a:solidFill>
              </a:rPr>
              <a:t>我的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2804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• 个人资料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9528048" y="28163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艺荐官中心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9528048" y="32735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地址与物流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952804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邀请记录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9528048" y="41879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8B1A7"/>
                </a:solidFill>
              </a:rPr>
              <a:t>• 设置与客服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1645920" y="6126480"/>
            <a:ext cx="8183880" cy="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62544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底部导航建议固定为：首页 / 发现 / 发布 / 藏品 / 我的。发布入口默认展示“艺术家发布”与“藏家转售”双态。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1832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64624" y="120700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开发提示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564624" y="14630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29216" y="1463040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底导建议使用全局自定义 tabBar，便于深色主题统一。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 / 首页（成交导向）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首页承担首屏转化，模块顺序要先“看见价值”，再“建立信任”，最后“做增长入口”。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148840" cy="4846320"/>
          </a:xfrm>
          <a:prstGeom prst="roundRect">
            <a:avLst>
              <a:gd name="adj" fmla="val 8511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73352"/>
            <a:ext cx="2002536" cy="4700016"/>
          </a:xfrm>
          <a:prstGeom prst="roundRect">
            <a:avLst>
              <a:gd name="adj" fmla="val 7306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4772" y="170992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7" name="Image 0" descr="/mnt/data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449" y="1764792"/>
            <a:ext cx="1937863" cy="45354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65013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首页主稿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965960"/>
            <a:ext cx="1005840" cy="-18288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86200" y="160020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95928" y="170992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顶部：品牌 Logo、搜索、消息。搜索支持艺术家/作品名。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2880360" y="2697480"/>
            <a:ext cx="1280160" cy="-9144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06240" y="233172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24414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Banner：突出“新一代艺术品流通平台”，可放签约艺术家首发活动。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2743200" y="3474720"/>
            <a:ext cx="1188720" cy="4572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977640" y="324612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87368" y="33558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热门藏品：横滑 2.2 张，卡面必须露出作品图、价格、涨幅。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2788920" y="4462272"/>
            <a:ext cx="1051560" cy="246888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886200" y="4407408"/>
            <a:ext cx="297180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95928" y="4517136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正在升值：单独做价值感模块，强调实时涨幅、关注人数、入藏人数。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2834640" y="5623560"/>
            <a:ext cx="1280160" cy="27432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160520" y="548640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0248" y="5596128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艺术盲盒 &amp; 推荐艺术家：放在靠下位置，负责转化和信任扩散。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7315200" y="164592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61504" y="175564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首页模块顺序（固定）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61504" y="201168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6096" y="2011680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1. 顶部搜索：默认展示最近搜索与热搜词，搜索结果可切换“作品 / 艺术家”。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7461504" y="23225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626096" y="2322576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2. Banner：主推签约艺术家独家发行、新作首发、限时盲盒。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7461504" y="26334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626096" y="2633472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3. 热门藏品：展示销量高、收藏高、涨幅高的 6~8 件作品。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7461504" y="29443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626096" y="2944368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4. 正在升值：算法模块，优先展示涨幅明显且可转售的作品。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61504" y="325526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26096" y="3255264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5. 艺术盲盒 + 推荐艺术家：作为增长模块与信任模块。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7315200" y="406908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61504" y="417880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按钮与状态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61504" y="44348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626096" y="4434840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主按钮统一为“立即入藏”；卡片次按钮可使用“查看详情”。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61504" y="47457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626096" y="4745736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已售作品不显示“售罄”，统一显示“已被收藏”，并露出是否可转售。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7461504" y="50566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626096" y="5056632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支持拼团的作品卡片右上角增加“可拼团”角标。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 / 作品详情页（核心成交页）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详情页要把“艺术价值、价格逻辑、入藏动作、信任信息”四件事一次讲清楚。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331720" cy="4983480"/>
          </a:xfrm>
          <a:prstGeom prst="roundRect">
            <a:avLst>
              <a:gd name="adj" fmla="val 7843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81912"/>
            <a:ext cx="2185416" cy="4837176"/>
          </a:xfrm>
          <a:prstGeom prst="roundRect">
            <a:avLst>
              <a:gd name="adj" fmla="val 6695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4772" y="161848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7" name="Image 0" descr="/mnt/data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624" y="1673352"/>
            <a:ext cx="1911512" cy="4672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65471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作品详情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874520"/>
            <a:ext cx="1325880" cy="-13716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55448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53128" y="16642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首屏大图：优先保证作品展示面积，信息尽量后置。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2907792" y="3017520"/>
            <a:ext cx="1069848" cy="18288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023360" y="2761488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33088" y="2871216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作品信息：名称、艺术家、等级、动态价格、涨幅。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2926080" y="4160520"/>
            <a:ext cx="1371600" cy="36576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343400" y="411480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53128" y="422452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选择区：配送方式（寄作品 / 寄证书）、托管方案、拼团入口。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2926080" y="5669280"/>
            <a:ext cx="1234440" cy="22860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06240" y="5513832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15968" y="5623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底部固定 CTA：立即入藏 / 发起拼团 / 查看转售。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360920" y="1627632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7224" y="1737360"/>
            <a:ext cx="3776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详情页模块层级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07224" y="19933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71816" y="19933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1. 作品大图轮播：支持 1~5 张，建议含局部细节图。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507224" y="230428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71816" y="2304288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2. 价格区：当前价格、近 7 日涨幅、关注数、入藏数。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7507224" y="261518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71816" y="261518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3. 艺术家卡片：头像、名称、等级标签、粉丝数，点击进入主页。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7507224" y="292608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671816" y="292608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4. 权益区：电子证书必有，纸质证书 / 实物寄送 / 托管方式可选。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7360920" y="370332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07224" y="3813048"/>
            <a:ext cx="3776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按钮与状态细化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507224" y="406908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671816" y="406908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未售：主按钮“立即入藏”，次按钮“发起拼团”（若开启）。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7507224" y="43799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671816" y="4379976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已被收藏：主按钮切换为“查看转售”，若暂无流通则展示“等待转售”。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507224" y="46908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671816" y="46908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支持盲盒的作品不在详情页直接售卖，跳转到盲盒专题页。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507224" y="50017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671816" y="5001768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价格模块右侧建议放“定价说明”入口，解释在线天数/关注人数/等级系数。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 / 艺术家主页（信任转化页）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艺术家主页负责回答：这个人是谁、值不值得关注、他的作品是否值得持续收藏。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148840" cy="4800600"/>
          </a:xfrm>
          <a:prstGeom prst="roundRect">
            <a:avLst>
              <a:gd name="adj" fmla="val 8511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73352"/>
            <a:ext cx="2002536" cy="4654296"/>
          </a:xfrm>
          <a:prstGeom prst="roundRect">
            <a:avLst>
              <a:gd name="adj" fmla="val 7306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9052" y="170992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7" name="Image 0" descr="/mnt/data/art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311" y="1764792"/>
            <a:ext cx="1836697" cy="44897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64556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艺术家主页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1993392"/>
            <a:ext cx="1143000" cy="-118872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77640" y="169164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7368" y="180136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头部：头像、名称、等级标签、简介。等级前台直接展示。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2816352" y="2926080"/>
            <a:ext cx="1344168" cy="4572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06240" y="269748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28072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数据区：粉丝、作品、成交、转售次数。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2816352" y="3950208"/>
            <a:ext cx="1207008" cy="347472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069080" y="379476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390448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Tab：在售作品 / 已被收藏 / 流通中。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2788920" y="5596128"/>
            <a:ext cx="1234440" cy="210312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069080" y="5440680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78808" y="55504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EFE6"/>
                </a:solidFill>
              </a:rPr>
              <a:t>底部：关注艺术家、私信、查看签约标签说明。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269480" y="1645920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15784" y="175564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前台展示字段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15784" y="201168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80376" y="20116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艺术家名称（主） + 等级名称（次） + 签约标签（若有）。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415784" y="23225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80376" y="232257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一句话 Slogan：建议 16~24 字，增强个人风格辨识度。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7415784" y="26334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80376" y="263347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成交作品允许显示“已被收藏 by 某藏家”或匿名，取决于藏家隐私开关。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269480" y="3493008"/>
            <a:ext cx="4206240" cy="2029968"/>
          </a:xfrm>
          <a:prstGeom prst="roundRect">
            <a:avLst>
              <a:gd name="adj" fmla="val 3604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15784" y="36027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作品列表卡片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415784" y="385876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580376" y="385876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默认 2 列宫格，卡面固定露出作品图、当前价格、作品名称。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7415784" y="416966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580376" y="4169664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流通中的作品加“转售中”角标，已被收藏的作品仍保留进详情能力。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7415784" y="44805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580376" y="448056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可拼团作品显示“可拼团”；独家发行作品显示“独家”。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415784" y="47914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580376" y="479145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列表排序支持：综合推荐 / 最新 / 价格升序 / 价格涨幅。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7269480" y="571500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15784" y="582472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交互建议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7415784" y="60807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580376" y="608076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关注按钮置顶常驻，滚动后缩为悬浮小按钮，提高二次触达。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 / 转售页（流通核心）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转售页决定平台是否像“流通平台”而不是“一次性电商”。建议用 3 步流程，降低操作门槛。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965960" cy="4663440"/>
          </a:xfrm>
          <a:prstGeom prst="roundRect">
            <a:avLst>
              <a:gd name="adj" fmla="val 9302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64792"/>
            <a:ext cx="1819656" cy="4517136"/>
          </a:xfrm>
          <a:prstGeom prst="roundRect">
            <a:avLst>
              <a:gd name="adj" fmla="val 8040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1892" y="180136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7" name="Image 0" descr="/mnt/data/res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91233"/>
            <a:ext cx="1764792" cy="3882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64099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转售页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2029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STEP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填写转售价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74920" y="2148840"/>
            <a:ext cx="457200" cy="256032"/>
          </a:xfrm>
          <a:prstGeom prst="chevron">
            <a:avLst/>
          </a:prstGeom>
          <a:solidFill>
            <a:srgbClr val="B78A4F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029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STEP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选择交付方式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98080" y="2148840"/>
            <a:ext cx="457200" cy="256032"/>
          </a:xfrm>
          <a:prstGeom prst="chevron">
            <a:avLst/>
          </a:prstGeom>
          <a:solidFill>
            <a:srgbClr val="B78A4F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2029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STEP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6EFE6"/>
                </a:solidFill>
              </a:rPr>
              <a:t>确认发布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246120" y="315468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92424" y="3264408"/>
            <a:ext cx="2770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Step 1 字段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392424" y="35204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57016" y="3520440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当前持有成本、建议价格区间、平台服务费、艺术家分成。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3392424" y="38313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57016" y="383133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输入框下方展示“预计到手金额”，减少计算压力。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392424" y="41422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557016" y="414223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若作品未满足最短持有时间，字段区置灰并提示剩余天数。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46520" y="31546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92824" y="326440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Step 2 交付方式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92824" y="35204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757416" y="352044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A. 实物转移：需要重新填写发货地址与物流。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6592824" y="38313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57416" y="383133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B. 托管转移：只转权属，不动实物，成本更低。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6592824" y="41422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757416" y="414223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纸质证书可选重新打印并补发，作为增值服务。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3246120" y="5440680"/>
            <a:ext cx="6537960" cy="749808"/>
          </a:xfrm>
          <a:prstGeom prst="roundRect">
            <a:avLst>
              <a:gd name="adj" fmla="val 9756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92424" y="5550408"/>
            <a:ext cx="6245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上线建议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3392424" y="58064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557016" y="5806440"/>
            <a:ext cx="6117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转售发布成功后跳到“流通市场”详情页，展示发布时间、价格、预计到手、转售规则说明。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10012680" y="16916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158984" y="180136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关键状态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0158984" y="205740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323576" y="205740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未达持有天数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10158984" y="236829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323576" y="23682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待审核</a:t>
            </a:r>
            <a:endParaRPr lang="en-US" sz="1020" dirty="0"/>
          </a:p>
        </p:txBody>
      </p:sp>
      <p:sp>
        <p:nvSpPr>
          <p:cNvPr id="43" name="Text 40"/>
          <p:cNvSpPr/>
          <p:nvPr/>
        </p:nvSpPr>
        <p:spPr>
          <a:xfrm>
            <a:off x="10158984" y="26791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323576" y="267919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转售中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158984" y="299008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323576" y="29900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已成交</a:t>
            </a:r>
            <a:endParaRPr lang="en-US" sz="1020" dirty="0"/>
          </a:p>
        </p:txBody>
      </p:sp>
      <p:sp>
        <p:nvSpPr>
          <p:cNvPr id="47" name="Text 44"/>
          <p:cNvSpPr/>
          <p:nvPr/>
        </p:nvSpPr>
        <p:spPr>
          <a:xfrm>
            <a:off x="10158984" y="330098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323576" y="330098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已下架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 / 我的藏品 &amp; 艺荐官中心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一个是用户的“资产中心”，一个是平台的“增长中心”，风格要统一，但信息密度不同。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47088" cy="4526280"/>
          </a:xfrm>
          <a:prstGeom prst="roundRect">
            <a:avLst>
              <a:gd name="adj" fmla="val 9901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10512"/>
            <a:ext cx="1700784" cy="4379976"/>
          </a:xfrm>
          <a:prstGeom prst="roundRect">
            <a:avLst>
              <a:gd name="adj" fmla="val 8602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4708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7" name="Image 0" descr="/mnt/data/col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97964"/>
            <a:ext cx="164592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18504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我的藏品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97480" y="1737360"/>
            <a:ext cx="1847088" cy="4526280"/>
          </a:xfrm>
          <a:prstGeom prst="roundRect">
            <a:avLst>
              <a:gd name="adj" fmla="val 9901"/>
            </a:avLst>
          </a:prstGeom>
          <a:solidFill>
            <a:srgbClr val="111111"/>
          </a:solidFill>
          <a:ln w="12700">
            <a:solidFill>
              <a:srgbClr val="3931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0632" y="1810512"/>
            <a:ext cx="1700784" cy="4379976"/>
          </a:xfrm>
          <a:prstGeom prst="roundRect">
            <a:avLst>
              <a:gd name="adj" fmla="val 8602"/>
            </a:avLst>
          </a:prstGeom>
          <a:solidFill>
            <a:srgbClr val="000000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28416" y="1847088"/>
            <a:ext cx="585216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2" name="Image 1" descr="/mnt/data/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099334"/>
            <a:ext cx="1645920" cy="3820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6318504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艺荐官中心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83480" y="173736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9784" y="18470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我的藏品页面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129784" y="21031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294376" y="210312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顶部筛选：全部 / 持有中 / 拼团 / 转售中 / 已完成。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5129784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294376" y="241401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卡片核心信息：当前估值、持有比例、证书状态、托管状态。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5129784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294376" y="272491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每张卡片默认露出“查看证书”“转售”两个动作。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4983480" y="388620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9784" y="399592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艺荐官中心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129784" y="42519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294376" y="42519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顶部 KPI：今日收益、累计收益、团队人数、成交单数。</a:t>
            </a:r>
            <a:endParaRPr lang="en-US" sz="1020" dirty="0"/>
          </a:p>
        </p:txBody>
      </p:sp>
      <p:sp>
        <p:nvSpPr>
          <p:cNvPr id="26" name="Text 22"/>
          <p:cNvSpPr/>
          <p:nvPr/>
        </p:nvSpPr>
        <p:spPr>
          <a:xfrm>
            <a:off x="5129784" y="45628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294376" y="456285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中部模块：分享作品、生成海报、邀请码、佣金明细。</a:t>
            </a:r>
            <a:endParaRPr lang="en-US" sz="1020" dirty="0"/>
          </a:p>
        </p:txBody>
      </p:sp>
      <p:sp>
        <p:nvSpPr>
          <p:cNvPr id="28" name="Text 24"/>
          <p:cNvSpPr/>
          <p:nvPr/>
        </p:nvSpPr>
        <p:spPr>
          <a:xfrm>
            <a:off x="5129784" y="48737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294376" y="487375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建议增加“高转化作品推荐”，降低分销选择成本。</a:t>
            </a:r>
            <a:endParaRPr lang="en-US" sz="1020" dirty="0"/>
          </a:p>
        </p:txBody>
      </p:sp>
      <p:sp>
        <p:nvSpPr>
          <p:cNvPr id="30" name="Shape 26"/>
          <p:cNvSpPr/>
          <p:nvPr/>
        </p:nvSpPr>
        <p:spPr>
          <a:xfrm>
            <a:off x="8183880" y="173736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0184" y="184708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页面组件复用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330184" y="21031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494776" y="2103120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统计卡片、列表行、状态标签建议做统一组件，减少开发碎片化。</a:t>
            </a:r>
            <a:endParaRPr lang="en-US" sz="1020" dirty="0"/>
          </a:p>
        </p:txBody>
      </p:sp>
      <p:sp>
        <p:nvSpPr>
          <p:cNvPr id="34" name="Text 30"/>
          <p:cNvSpPr/>
          <p:nvPr/>
        </p:nvSpPr>
        <p:spPr>
          <a:xfrm>
            <a:off x="8330184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8494776" y="2414016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收益数字、估值数字统一用金色或米白大字号，提升高级感。</a:t>
            </a:r>
            <a:endParaRPr lang="en-US" sz="1020" dirty="0"/>
          </a:p>
        </p:txBody>
      </p:sp>
      <p:sp>
        <p:nvSpPr>
          <p:cNvPr id="36" name="Text 32"/>
          <p:cNvSpPr/>
          <p:nvPr/>
        </p:nvSpPr>
        <p:spPr>
          <a:xfrm>
            <a:off x="8330184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494776" y="2724912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物流信息与证书记录都可复用时间线组件。</a:t>
            </a:r>
            <a:endParaRPr lang="en-US" sz="1020" dirty="0"/>
          </a:p>
        </p:txBody>
      </p:sp>
      <p:sp>
        <p:nvSpPr>
          <p:cNvPr id="38" name="Shape 34"/>
          <p:cNvSpPr/>
          <p:nvPr/>
        </p:nvSpPr>
        <p:spPr>
          <a:xfrm>
            <a:off x="8183880" y="384048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30184" y="395020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推荐新增入口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8330184" y="42062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494776" y="4206240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我的藏品页增加“流转记录”，强化资产履历。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8330184" y="45171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8494776" y="4517136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艺荐官中心增加“团队邀请码”与“下级转化率”模块。</a:t>
            </a:r>
            <a:endParaRPr lang="en-US" sz="1020" dirty="0"/>
          </a:p>
        </p:txBody>
      </p:sp>
      <p:sp>
        <p:nvSpPr>
          <p:cNvPr id="44" name="Text 40"/>
          <p:cNvSpPr/>
          <p:nvPr/>
        </p:nvSpPr>
        <p:spPr>
          <a:xfrm>
            <a:off x="8330184" y="48280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494776" y="4828032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个人中心内增加“我的地址 / 收货人 / 证书寄送设置”。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 / 设计规范与开发标注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这一页用于锁定颜色、字号、按钮、标签、卡片结构，给设计与前端统一约束。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6"/>
                </a:solidFill>
              </a:rPr>
              <a:t>设计 Token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主背景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84832" y="221284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#0B0A08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卡片底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84832" y="25054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#14110E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金色强调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279806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6B074"/>
                </a:solidFill>
              </a:rPr>
              <a:t>#D6B074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正文色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30906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#F6EFE6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辅助文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338328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#B8B1A7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914400" y="36758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危险涨幅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36758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E2604D"/>
                </a:solidFill>
              </a:rPr>
              <a:t>#E2604D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1A7"/>
                </a:solidFill>
              </a:rPr>
              <a:t>成功状态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396849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EA67A"/>
                </a:solidFill>
              </a:rPr>
              <a:t>#6EA67A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字号建议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H1 24~28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H2 16~18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正文 10~12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标签 8.5~10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4389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圆角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卡片 12~16 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按钮 10~14 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标签 999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16916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6"/>
                </a:solidFill>
              </a:rPr>
              <a:t>按钮与标签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2212848"/>
            <a:ext cx="1554480" cy="438912"/>
          </a:xfrm>
          <a:prstGeom prst="roundRect">
            <a:avLst>
              <a:gd name="adj" fmla="val 18750"/>
            </a:avLst>
          </a:prstGeom>
          <a:solidFill>
            <a:srgbClr val="D6B074"/>
          </a:solidFill>
          <a:ln w="12700">
            <a:solidFill>
              <a:srgbClr val="D6B0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2350008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A08"/>
                </a:solidFill>
              </a:rPr>
              <a:t>立即入藏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50992" y="2212848"/>
            <a:ext cx="1554480" cy="438912"/>
          </a:xfrm>
          <a:prstGeom prst="roundRect">
            <a:avLst>
              <a:gd name="adj" fmla="val 18750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350008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查看详情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05072" y="30632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B78A4F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1455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A08"/>
                </a:solidFill>
              </a:rPr>
              <a:t>签约艺术家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42432" y="30632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1455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EFE6"/>
                </a:solidFill>
              </a:rPr>
              <a:t>可拼团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05072" y="36576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37398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EFE6"/>
                </a:solidFill>
              </a:rPr>
              <a:t>转售中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42432" y="36576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37398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EFE6"/>
                </a:solidFill>
              </a:rPr>
              <a:t>已被收藏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05072" y="4370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所有页面主按钮默认使用金色；仅在支付确认、独家发行抢购等关键动作保持高亮。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726680" y="1691640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27848" y="18470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6"/>
                </a:solidFill>
              </a:rPr>
              <a:t>开发交付建议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27848" y="22128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1. 先切 6 个核心页面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2. 统一沉淀组件库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3. 锁定状态字段与枚举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4. 先做静态 UI，再接接口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5. 再补弹窗、空态、异常态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27848" y="3657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建议先做的组件：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藏品卡片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金色主按钮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状态标签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证书时间线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顶部筛选栏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• 收益统计卡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9921240" y="36576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页面优先级：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P0 首页 / 详情 / 藏品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P1 艺术家 / 转售 / 艺荐官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P2 盲盒 / 拼团 / 独家发行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08 / 页面清单（供开发拆分）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这一页可直接拿给前端和产品排期，按优先级拆任务。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927080" cy="4526280"/>
          </a:xfrm>
          <a:prstGeom prst="roundRect">
            <a:avLst>
              <a:gd name="adj" fmla="val 1212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B074"/>
                </a:solidFill>
              </a:rPr>
              <a:t>优先级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8105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B074"/>
                </a:solidFill>
              </a:rPr>
              <a:t>页面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81051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B074"/>
                </a:solidFill>
              </a:rPr>
              <a:t>建议路由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81051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B074"/>
                </a:solidFill>
              </a:rPr>
              <a:t>核心模块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084832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579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B074"/>
                </a:solidFill>
              </a:rPr>
              <a:t>P0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21579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首页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215798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/pages/home/index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5798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Banner、热门藏品、正在升值、盲盒、推荐艺术家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2487168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6032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B074"/>
                </a:solidFill>
              </a:rPr>
              <a:t>P0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25603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作品详情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25603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/pages/artwork/detail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作品信息、价格逻辑、配送方式、入藏 CTA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2889504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9626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B074"/>
                </a:solidFill>
              </a:rPr>
              <a:t>P0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0200" y="29626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我的藏品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296265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/pages/collection/index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962656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估值、证书、托管、转售入口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" y="3291840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649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P1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0200" y="33649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艺术家主页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0" y="33649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/pages/artist/profile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3649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艺术家信息、等级、作品列表、关注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" y="3694176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6732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P1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00200" y="37673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转售页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0" y="376732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/pages/resale/create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76732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填写价格、交付方式、确认发布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" y="4096512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696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P1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00200" y="4169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艺荐官中心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0" y="41696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/pages/agent/index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16966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收益、团队、推广、邀请码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1248" y="4498848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5720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P2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00200" y="457200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艺术盲盒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0" y="457200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/pages/blindbox/index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57200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盲盒列表、概率说明、开盒结果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" y="4901184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97433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P2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600200" y="49743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拼团收藏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0" y="497433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/pages/group/detail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4974336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份额信息、参与人数、联合证书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1248" y="5303520"/>
            <a:ext cx="10469880" cy="0"/>
          </a:xfrm>
          <a:prstGeom prst="line">
            <a:avLst/>
          </a:prstGeom>
          <a:noFill/>
          <a:ln w="12700">
            <a:solidFill>
              <a:srgbClr val="2822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53766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P2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600200" y="53766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6"/>
                </a:solidFill>
              </a:rPr>
              <a:t>独家发行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743200" y="5376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1A7"/>
                </a:solidFill>
              </a:rPr>
              <a:t>/pages/exclusive/index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537667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EFE6"/>
                </a:solidFill>
              </a:rPr>
              <a:t>预约、发售倒计时、抢购状态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" y="6272784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" y="6382512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交付建议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96112" y="66385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60704" y="663854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下一轮继续补：弹窗态、空态、加载态、支付确认页。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7315200" y="6272784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61504" y="638251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EFE6"/>
                </a:solidFill>
              </a:rPr>
              <a:t>命名修正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461504" y="66385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B074"/>
                </a:solidFill>
              </a:rPr>
              <a:t>•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26096" y="663854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B1A7"/>
                </a:solidFill>
              </a:rPr>
              <a:t>本版已将“艺匠”统一修正为“艺术家”。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拾艺局 UI 细化稿 V2</dc:title>
  <dc:subject>拾艺局 UI 细化稿 V2</dc:subject>
  <dc:creator>OpenAI</dc:creator>
  <cp:lastModifiedBy>OpenAI</cp:lastModifiedBy>
  <cp:revision>1</cp:revision>
  <dcterms:created xsi:type="dcterms:W3CDTF">2026-04-05T03:53:56Z</dcterms:created>
  <dcterms:modified xsi:type="dcterms:W3CDTF">2026-04-05T03:53:56Z</dcterms:modified>
</cp:coreProperties>
</file>